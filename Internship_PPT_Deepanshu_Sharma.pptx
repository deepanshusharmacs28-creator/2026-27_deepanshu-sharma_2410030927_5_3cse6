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pic>
        <p:nvPicPr>
          <p:cNvPr id="4" name="Image 0" descr="fmt_unzip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22960" cy="877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UNIVERSITY, GREATER NOIDA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– AICTE EduSkills Virtual Internship Program  |  RapidMiner Platform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27448" y="5074920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303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Deepanshu Sharma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2410030927   |   Section: 3CSE6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5th Semester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EduSkills Foundation (Supported by Siemens &amp; Altair)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mg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90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 Profile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imgs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6289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420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imgs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6804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5935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Technologies Used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imgs/icon_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7320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6451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217920" y="1417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imgs/icon_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57734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1490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Week-wise Journey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621792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5" descr="imgs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262890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25420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Learnings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217920" y="3520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6" descr="imgs/icon_c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368046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95160" y="35935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Achieved</a:t>
            </a:r>
            <a:endParaRPr lang="en-US" sz="1500" dirty="0"/>
          </a:p>
        </p:txBody>
      </p:sp>
      <p:sp>
        <p:nvSpPr>
          <p:cNvPr id="25" name="Shape 16"/>
          <p:cNvSpPr/>
          <p:nvPr/>
        </p:nvSpPr>
        <p:spPr>
          <a:xfrm>
            <a:off x="6217920" y="4572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7" descr="imgs/icon_gr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940" y="4732020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95160" y="46451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14F5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5212080"/>
            <a:ext cx="2743200" cy="27432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2057400"/>
            <a:ext cx="1554480" cy="15544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mgs/icon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4460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005840"/>
            <a:ext cx="69494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Academia and Industry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and machine learning are now core industry requirements. AICTE, EduSkills Foundation, Altair Engineering, and Siemens jointly run structured Virtual Internship Programs to build these skills in engineering students.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 of my 5th-semester curriculum at IILM University, I completed the 8-week “Data Science Master” Virtual Internship (April–June 2026) on the RapidMiner platform.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covered the complete data science lifecycle — from identifying business problems to deploying and monitoring ML models.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F2D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6916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mg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34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Section-8, ISO 9001:2015 &amp; ISO 20000-1:2015 certified, “Great Place to Work” certified not-for-profit. Mission: “Nation Building Through Skills.” Partners with AICTE &amp; the National Internship Portal.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F2D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16916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mgs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834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(An Altair Company)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61188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enterprise data-science and machine-learning platform providing the internship's technical curriculum and certifications for data preparation, modelling, and deployment.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F2D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24060" y="16916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mgs/icon_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6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834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 Software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361188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industrial software leader that supported the program, reflecting real industry backing for the skills taught.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014F5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mgs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8516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graduates often have strong theory but little hands-on exposure to industry-grade data science tools and end-to-end ML workflows. Most academic exercises stop at notebook-level modelling and skip data engineering at scale, deployment, and platform administration — skills recruiters actively seek.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35040" y="1371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035040" y="20208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892808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problems suitable for AI/ML solutions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6791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551176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load, transform &amp; calculate data at scale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333756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3209544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to advanced ML models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39959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386791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monitor models in production-like settings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35040" y="46542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452628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enterprise platform administration skills (AI Hub, Radoop)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53126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5184648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industry-recognised RapidMiner certifications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curriculum-based virtual internship (not a live client engagement) covering 8 weekly modules from foundational to advanced levels, using sample datasets within the RapidMiner learning environment.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3876" y="24460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mg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186" y="264033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38328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Studio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1148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code-free workflow designer for data prep, ML &amp; validation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62072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5868" y="24460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mgs/icon_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178" y="264033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338328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AI Hub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99232" y="41148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 to deploy, schedule &amp; manage models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84064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37860" y="24460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mgs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264033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93792" y="338328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Radoop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21224" y="41148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processes on Hadoop/Spark for big-data workloads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06056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59852" y="24460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imgs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264033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5784" y="338328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43216" y="41148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trained models as real-time scoring web services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528048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7E5E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181844" y="24460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4" descr="imgs/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154" y="2640330"/>
            <a:ext cx="388620" cy="3886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37776" y="338328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Marketplace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665208" y="411480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repository for additional operators &amp; connectors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RapidMiner's modular, pipeline-based architecture supports the full data-science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91740"/>
            <a:ext cx="685800" cy="685800"/>
          </a:xfrm>
          <a:prstGeom prst="ellipse">
            <a:avLst/>
          </a:prstGeom>
          <a:solidFill>
            <a:srgbClr val="014F52"/>
          </a:solidFill>
          <a:ln/>
        </p:spPr>
      </p:sp>
      <p:pic>
        <p:nvPicPr>
          <p:cNvPr id="7" name="Image 0" descr="img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26631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227832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856232" y="20391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79782" y="3118104"/>
            <a:ext cx="250180" cy="164592"/>
          </a:xfrm>
          <a:prstGeom prst="rightArrow">
            <a:avLst/>
          </a:prstGeom>
          <a:solidFill>
            <a:srgbClr val="BFD8D6"/>
          </a:solidFill>
          <a:ln/>
        </p:spPr>
      </p:sp>
      <p:sp>
        <p:nvSpPr>
          <p:cNvPr id="11" name="Shape 8"/>
          <p:cNvSpPr/>
          <p:nvPr/>
        </p:nvSpPr>
        <p:spPr>
          <a:xfrm>
            <a:off x="2569464" y="233172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12" name="Shape 9"/>
          <p:cNvSpPr/>
          <p:nvPr/>
        </p:nvSpPr>
        <p:spPr>
          <a:xfrm>
            <a:off x="3026664" y="2491740"/>
            <a:ext cx="685800" cy="685800"/>
          </a:xfrm>
          <a:prstGeom prst="ellipse">
            <a:avLst/>
          </a:prstGeom>
          <a:solidFill>
            <a:srgbClr val="014F52"/>
          </a:solidFill>
          <a:ln/>
        </p:spPr>
      </p:sp>
      <p:pic>
        <p:nvPicPr>
          <p:cNvPr id="13" name="Image 1" descr="img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114" y="26631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42616" y="3227832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785616" y="20391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09166" y="3118104"/>
            <a:ext cx="250180" cy="164592"/>
          </a:xfrm>
          <a:prstGeom prst="rightArrow">
            <a:avLst/>
          </a:prstGeom>
          <a:solidFill>
            <a:srgbClr val="BFD8D6"/>
          </a:solidFill>
          <a:ln/>
        </p:spPr>
      </p:sp>
      <p:sp>
        <p:nvSpPr>
          <p:cNvPr id="17" name="Shape 13"/>
          <p:cNvSpPr/>
          <p:nvPr/>
        </p:nvSpPr>
        <p:spPr>
          <a:xfrm>
            <a:off x="4498848" y="233172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8" name="Shape 14"/>
          <p:cNvSpPr/>
          <p:nvPr/>
        </p:nvSpPr>
        <p:spPr>
          <a:xfrm>
            <a:off x="4956048" y="2491740"/>
            <a:ext cx="685800" cy="685800"/>
          </a:xfrm>
          <a:prstGeom prst="ellipse">
            <a:avLst/>
          </a:prstGeom>
          <a:solidFill>
            <a:srgbClr val="014F52"/>
          </a:solidFill>
          <a:ln/>
        </p:spPr>
      </p:sp>
      <p:pic>
        <p:nvPicPr>
          <p:cNvPr id="19" name="Image 2" descr="imgs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498" y="266319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0" y="3227832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715000" y="20391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38550" y="3118104"/>
            <a:ext cx="250180" cy="164592"/>
          </a:xfrm>
          <a:prstGeom prst="rightArrow">
            <a:avLst/>
          </a:prstGeom>
          <a:solidFill>
            <a:srgbClr val="BFD8D6"/>
          </a:solidFill>
          <a:ln/>
        </p:spPr>
      </p:sp>
      <p:sp>
        <p:nvSpPr>
          <p:cNvPr id="23" name="Shape 18"/>
          <p:cNvSpPr/>
          <p:nvPr/>
        </p:nvSpPr>
        <p:spPr>
          <a:xfrm>
            <a:off x="6428232" y="233172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24" name="Shape 19"/>
          <p:cNvSpPr/>
          <p:nvPr/>
        </p:nvSpPr>
        <p:spPr>
          <a:xfrm>
            <a:off x="6885432" y="2491740"/>
            <a:ext cx="685800" cy="685800"/>
          </a:xfrm>
          <a:prstGeom prst="ellipse">
            <a:avLst/>
          </a:prstGeom>
          <a:solidFill>
            <a:srgbClr val="014F52"/>
          </a:solidFill>
          <a:ln/>
        </p:spPr>
      </p:sp>
      <p:pic>
        <p:nvPicPr>
          <p:cNvPr id="25" name="Image 3" descr="imgs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882" y="266319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01384" y="3227832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644384" y="20391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067934" y="3118104"/>
            <a:ext cx="250180" cy="164592"/>
          </a:xfrm>
          <a:prstGeom prst="rightArrow">
            <a:avLst/>
          </a:prstGeom>
          <a:solidFill>
            <a:srgbClr val="BFD8D6"/>
          </a:solidFill>
          <a:ln/>
        </p:spPr>
      </p:sp>
      <p:sp>
        <p:nvSpPr>
          <p:cNvPr id="29" name="Shape 23"/>
          <p:cNvSpPr/>
          <p:nvPr/>
        </p:nvSpPr>
        <p:spPr>
          <a:xfrm>
            <a:off x="8357616" y="233172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30" name="Shape 24"/>
          <p:cNvSpPr/>
          <p:nvPr/>
        </p:nvSpPr>
        <p:spPr>
          <a:xfrm>
            <a:off x="8814816" y="2491740"/>
            <a:ext cx="685800" cy="685800"/>
          </a:xfrm>
          <a:prstGeom prst="ellipse">
            <a:avLst/>
          </a:prstGeom>
          <a:solidFill>
            <a:srgbClr val="014F52"/>
          </a:solidFill>
          <a:ln/>
        </p:spPr>
      </p:sp>
      <p:pic>
        <p:nvPicPr>
          <p:cNvPr id="31" name="Image 4" descr="imgs/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266" y="2663190"/>
            <a:ext cx="342900" cy="3429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30768" y="3227832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573768" y="20391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997318" y="3118104"/>
            <a:ext cx="250180" cy="164592"/>
          </a:xfrm>
          <a:prstGeom prst="rightArrow">
            <a:avLst/>
          </a:prstGeom>
          <a:solidFill>
            <a:srgbClr val="BFD8D6"/>
          </a:solidFill>
          <a:ln/>
        </p:spPr>
      </p:sp>
      <p:sp>
        <p:nvSpPr>
          <p:cNvPr id="35" name="Shape 28"/>
          <p:cNvSpPr/>
          <p:nvPr/>
        </p:nvSpPr>
        <p:spPr>
          <a:xfrm>
            <a:off x="10287000" y="233172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36" name="Shape 29"/>
          <p:cNvSpPr/>
          <p:nvPr/>
        </p:nvSpPr>
        <p:spPr>
          <a:xfrm>
            <a:off x="10744200" y="2491740"/>
            <a:ext cx="685800" cy="685800"/>
          </a:xfrm>
          <a:prstGeom prst="ellipse">
            <a:avLst/>
          </a:prstGeom>
          <a:solidFill>
            <a:srgbClr val="014F52"/>
          </a:solidFill>
          <a:ln/>
        </p:spPr>
      </p:sp>
      <p:pic>
        <p:nvPicPr>
          <p:cNvPr id="37" name="Image 5" descr="imgs/icon_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5650" y="2663190"/>
            <a:ext cx="342900" cy="3429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360152" y="3227832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Monitoring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503152" y="20391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94360" y="41788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files, databases &amp; repositories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2523744" y="41788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transform &amp; calculate data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453128" y="41788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algorithms to build predictive models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382512" y="41788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&amp; evaluate model performance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8311896" y="41788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models to AI Hub / Real-Time Scoring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0241280" y="41788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jobs &amp; infra via AI Hub / Radoop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– Week-wise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80160"/>
            <a:ext cx="105613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80160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280160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Professional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280160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problems suitable for AI/ML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856232"/>
            <a:ext cx="10561320" cy="576072"/>
          </a:xfrm>
          <a:prstGeom prst="rect">
            <a:avLst/>
          </a:prstGeom>
          <a:solidFill>
            <a:srgbClr val="E9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856232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5623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856232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Professional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56232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load, transform &amp; calculate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432304"/>
            <a:ext cx="105613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2304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3230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2432304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Professional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432304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ML skills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008376"/>
            <a:ext cx="10561320" cy="576072"/>
          </a:xfrm>
          <a:prstGeom prst="rect">
            <a:avLst/>
          </a:prstGeom>
          <a:solidFill>
            <a:srgbClr val="E9F4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008376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0837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008376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Master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008376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advanced data handling &amp; automation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584448"/>
            <a:ext cx="105613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584448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58444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3584448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Master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584448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advanced ML techniques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160520"/>
            <a:ext cx="10561320" cy="576072"/>
          </a:xfrm>
          <a:prstGeom prst="rect">
            <a:avLst/>
          </a:prstGeom>
          <a:solidFill>
            <a:srgbClr val="E9F4F3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160520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16052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00200" y="4160520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Master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160520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monitor ML models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4736592"/>
            <a:ext cx="105613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736592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73659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600200" y="4736592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Master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4736592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manage RapidMiner AI Hub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" y="5312664"/>
            <a:ext cx="10561320" cy="576072"/>
          </a:xfrm>
          <a:prstGeom prst="rect">
            <a:avLst/>
          </a:prstGeom>
          <a:solidFill>
            <a:srgbClr val="E9F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5312664"/>
            <a:ext cx="777240" cy="5760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531266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5312664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Master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5312664"/>
            <a:ext cx="5669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platform operations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5961888"/>
            <a:ext cx="10561320" cy="457200"/>
          </a:xfrm>
          <a:prstGeom prst="roundRect">
            <a:avLst>
              <a:gd name="adj" fmla="val 16000"/>
            </a:avLst>
          </a:prstGeom>
          <a:solidFill>
            <a:srgbClr val="014F52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961888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Credential Validation / Internship Grade Point Assessment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Key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23E40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345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mgs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240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6459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proficiency in end-to-end RapidMiner data-science workflows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23E40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345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mgs/icon_c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240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6459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Master-level certifications: Applications &amp; Use Cases, Platform Administration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" y="365760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23E40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" y="41833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imgs/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43891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379476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8-week internship with an overall Grade of O (Outstanding)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17920" y="365760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23E40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92240" y="41833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imgs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3891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2360" y="379476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enterprise model deployment, monitoring &amp; administration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Achieved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D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F2D2E">
                <a:alpha val="15000"/>
              </a:srgbClr>
            </a:outerShdw>
          </a:effectLst>
        </p:spPr>
      </p:sp>
      <p:pic>
        <p:nvPicPr>
          <p:cNvPr id="5" name="Image 0" descr="imgs/badge1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983480" cy="2807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41732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D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F2D2E">
                <a:alpha val="15000"/>
              </a:srgbClr>
            </a:outerShdw>
          </a:effectLst>
        </p:spPr>
      </p:sp>
      <p:pic>
        <p:nvPicPr>
          <p:cNvPr id="7" name="Image 1" descr="imgs/badge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83480" cy="2807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9F4F3"/>
          </a:solidFill>
          <a:ln/>
        </p:spPr>
      </p:sp>
      <p:sp>
        <p:nvSpPr>
          <p:cNvPr id="9" name="Shape 5"/>
          <p:cNvSpPr/>
          <p:nvPr/>
        </p:nvSpPr>
        <p:spPr>
          <a:xfrm>
            <a:off x="960120" y="50292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2" descr="imgs/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2578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03120" y="50292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Internship Grade:  </a:t>
            </a:r>
            <a:pPr indent="0" marL="0">
              <a:buNone/>
            </a:pPr>
            <a:r>
              <a:rPr lang="en-US" sz="1500" b="1" dirty="0">
                <a:solidFill>
                  <a:srgbClr val="01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– Outstanding (90–100)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103120" y="54406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456d9d7f03e3629aac11   |   Student ID: STU699effc8d7f5a1772027848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-2103120"/>
            <a:ext cx="4114800" cy="41148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48840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strengthened my practical foundation in data science and machine learning — from data engineering to model deployment — using an industry-grade platform, directly supporting my goal of pursuing AI/ML and agentic-systems roles.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27448" y="3611880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Deepanshu Sharma  |  2410030927  |  3CSE6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2026-08-29T07:21:46Z</dcterms:created>
  <dcterms:modified xsi:type="dcterms:W3CDTF">2026-08-29T07:21:46Z</dcterms:modified>
</cp:coreProperties>
</file>